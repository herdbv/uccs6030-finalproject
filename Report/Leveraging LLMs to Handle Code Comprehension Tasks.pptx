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4"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75" autoAdjust="0"/>
    <p:restoredTop sz="85955" autoAdjust="0"/>
  </p:normalViewPr>
  <p:slideViewPr>
    <p:cSldViewPr snapToGrid="0">
      <p:cViewPr varScale="1">
        <p:scale>
          <a:sx n="134" d="100"/>
          <a:sy n="134" d="100"/>
        </p:scale>
        <p:origin x="151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F577F8-17CC-4376-9218-F624DFCAE638}" type="datetimeFigureOut">
              <a:rPr lang="en-US" smtClean="0"/>
              <a:t>12/8/25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5AEB82-1D1E-4173-B4F9-72350FDD84EC}" type="slidenum">
              <a:rPr lang="en-US" smtClean="0"/>
              <a:t>‹#›</a:t>
            </a:fld>
            <a:endParaRPr lang="en-US"/>
          </a:p>
        </p:txBody>
      </p:sp>
    </p:spTree>
    <p:extLst>
      <p:ext uri="{BB962C8B-B14F-4D97-AF65-F5344CB8AC3E}">
        <p14:creationId xmlns:p14="http://schemas.microsoft.com/office/powerpoint/2010/main" val="962780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interest started when, during an assignment this semester, I had to spend quite a bit of time researching Java. I can't remember which assignment it was, but it was the one where you had to generate the weakest possible pre-condition for a java </a:t>
            </a:r>
            <a:r>
              <a:rPr lang="en-US" dirty="0" err="1"/>
              <a:t>func</a:t>
            </a:r>
            <a:r>
              <a:rPr lang="en-US" dirty="0"/>
              <a:t>. I had to research some of the exceptions that can happen. I initially answered the question to ensure that </a:t>
            </a:r>
            <a:r>
              <a:rPr lang="en-US" dirty="0" err="1"/>
              <a:t>NaN</a:t>
            </a:r>
            <a:r>
              <a:rPr lang="en-US" dirty="0"/>
              <a:t> was not encountered, but I learned that wasn’t technically an exception.</a:t>
            </a:r>
          </a:p>
          <a:p>
            <a:endParaRPr lang="en-US" dirty="0"/>
          </a:p>
          <a:p>
            <a:r>
              <a:rPr lang="en-US" dirty="0"/>
              <a:t>This piqued my interest because I had to spend a decent chunk of time on learning this, I wondered how easy it would be for ChatGPT to answer it?</a:t>
            </a:r>
          </a:p>
          <a:p>
            <a:endParaRPr lang="en-US" dirty="0"/>
          </a:p>
          <a:p>
            <a:r>
              <a:rPr lang="en-US" dirty="0"/>
              <a:t>My goal is to get you to think in terms of wanting to speed things up, not a matter of I can’t do this</a:t>
            </a:r>
          </a:p>
        </p:txBody>
      </p:sp>
      <p:sp>
        <p:nvSpPr>
          <p:cNvPr id="4" name="Slide Number Placeholder 3"/>
          <p:cNvSpPr>
            <a:spLocks noGrp="1"/>
          </p:cNvSpPr>
          <p:nvPr>
            <p:ph type="sldNum" sz="quarter" idx="5"/>
          </p:nvPr>
        </p:nvSpPr>
        <p:spPr/>
        <p:txBody>
          <a:bodyPr/>
          <a:lstStyle/>
          <a:p>
            <a:fld id="{1C5AEB82-1D1E-4173-B4F9-72350FDD84EC}" type="slidenum">
              <a:rPr lang="en-US" smtClean="0"/>
              <a:t>2</a:t>
            </a:fld>
            <a:endParaRPr lang="en-US"/>
          </a:p>
        </p:txBody>
      </p:sp>
    </p:spTree>
    <p:extLst>
      <p:ext uri="{BB962C8B-B14F-4D97-AF65-F5344CB8AC3E}">
        <p14:creationId xmlns:p14="http://schemas.microsoft.com/office/powerpoint/2010/main" val="387425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articles, books, etc. in our field tell us that testing, comments, and other related topics are often neglected until last. That hasn’t exactly been my experience, but I can believe it at larger companies.</a:t>
            </a:r>
          </a:p>
          <a:p>
            <a:endParaRPr lang="en-US" dirty="0"/>
          </a:p>
          <a:p>
            <a:r>
              <a:rPr lang="en-US" dirty="0"/>
              <a:t>So, here is what we are going to work on: Given a class/block of code, how well can these LLMs find and add pre- and post-conditions to an existing/nonexistent </a:t>
            </a:r>
            <a:r>
              <a:rPr lang="en-US" dirty="0" err="1"/>
              <a:t>docstrong</a:t>
            </a:r>
            <a:endParaRPr lang="en-US" dirty="0"/>
          </a:p>
          <a:p>
            <a:r>
              <a:rPr lang="en-US" dirty="0"/>
              <a:t>How do they perform when evaluating already written conditions i.e. evaluating each others pre- and post-conditions.</a:t>
            </a:r>
          </a:p>
        </p:txBody>
      </p:sp>
      <p:sp>
        <p:nvSpPr>
          <p:cNvPr id="4" name="Slide Number Placeholder 3"/>
          <p:cNvSpPr>
            <a:spLocks noGrp="1"/>
          </p:cNvSpPr>
          <p:nvPr>
            <p:ph type="sldNum" sz="quarter" idx="5"/>
          </p:nvPr>
        </p:nvSpPr>
        <p:spPr/>
        <p:txBody>
          <a:bodyPr/>
          <a:lstStyle/>
          <a:p>
            <a:fld id="{1C5AEB82-1D1E-4173-B4F9-72350FDD84EC}" type="slidenum">
              <a:rPr lang="en-US" smtClean="0"/>
              <a:t>3</a:t>
            </a:fld>
            <a:endParaRPr lang="en-US"/>
          </a:p>
        </p:txBody>
      </p:sp>
    </p:spTree>
    <p:extLst>
      <p:ext uri="{BB962C8B-B14F-4D97-AF65-F5344CB8AC3E}">
        <p14:creationId xmlns:p14="http://schemas.microsoft.com/office/powerpoint/2010/main" val="647294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python because it is everywhere, we use a </a:t>
            </a:r>
            <a:r>
              <a:rPr lang="en-US" dirty="0" err="1"/>
              <a:t>linkedlist</a:t>
            </a:r>
            <a:r>
              <a:rPr lang="en-US" dirty="0"/>
              <a:t> because it is an easy ds the models can </a:t>
            </a:r>
            <a:r>
              <a:rPr lang="en-US" dirty="0" err="1"/>
              <a:t>quicly</a:t>
            </a:r>
            <a:r>
              <a:rPr lang="en-US" dirty="0"/>
              <a:t> reference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So, combining Python, linked lists, and ChatGPT/Copilot, we have to design a prompt to get what we need out of the models. </a:t>
            </a:r>
            <a:endParaRPr lang="en-US" dirty="0"/>
          </a:p>
          <a:p>
            <a:endParaRPr lang="en-US" dirty="0"/>
          </a:p>
          <a:p>
            <a:r>
              <a:rPr lang="en-US" dirty="0"/>
              <a:t>Basically, I asked the model to find the pre and post condition for each method in the code and add it to the docstring, then convert the post-</a:t>
            </a:r>
            <a:r>
              <a:rPr lang="en-US" dirty="0" err="1"/>
              <a:t>conds</a:t>
            </a:r>
            <a:r>
              <a:rPr lang="en-US" dirty="0"/>
              <a:t> to executable format.</a:t>
            </a:r>
          </a:p>
          <a:p>
            <a:r>
              <a:rPr lang="en-US" dirty="0"/>
              <a:t>Relatively basic, and it performed as such.</a:t>
            </a:r>
          </a:p>
          <a:p>
            <a:endParaRPr lang="en-US" dirty="0"/>
          </a:p>
          <a:p>
            <a:r>
              <a:rPr lang="en-US" dirty="0"/>
              <a:t>So a burning question in some minds might be, why Copilot? There are better models and given the recent news, it seems Copilot is not performing well comparatively. Well, Copilot is heavily integrated into all Microsoft products, its hard to deny the accessibility it provides when other models are blocked. A previous job I held blocked everything except copilot.</a:t>
            </a:r>
          </a:p>
        </p:txBody>
      </p:sp>
      <p:sp>
        <p:nvSpPr>
          <p:cNvPr id="4" name="Slide Number Placeholder 3"/>
          <p:cNvSpPr>
            <a:spLocks noGrp="1"/>
          </p:cNvSpPr>
          <p:nvPr>
            <p:ph type="sldNum" sz="quarter" idx="5"/>
          </p:nvPr>
        </p:nvSpPr>
        <p:spPr/>
        <p:txBody>
          <a:bodyPr/>
          <a:lstStyle/>
          <a:p>
            <a:fld id="{1C5AEB82-1D1E-4173-B4F9-72350FDD84EC}" type="slidenum">
              <a:rPr lang="en-US" smtClean="0"/>
              <a:t>4</a:t>
            </a:fld>
            <a:endParaRPr lang="en-US"/>
          </a:p>
        </p:txBody>
      </p:sp>
    </p:spTree>
    <p:extLst>
      <p:ext uri="{BB962C8B-B14F-4D97-AF65-F5344CB8AC3E}">
        <p14:creationId xmlns:p14="http://schemas.microsoft.com/office/powerpoint/2010/main" val="2612311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point 2, as opposed to the entire codebase being analyzed at once</a:t>
            </a:r>
          </a:p>
        </p:txBody>
      </p:sp>
      <p:sp>
        <p:nvSpPr>
          <p:cNvPr id="4" name="Slide Number Placeholder 3"/>
          <p:cNvSpPr>
            <a:spLocks noGrp="1"/>
          </p:cNvSpPr>
          <p:nvPr>
            <p:ph type="sldNum" sz="quarter" idx="5"/>
          </p:nvPr>
        </p:nvSpPr>
        <p:spPr/>
        <p:txBody>
          <a:bodyPr/>
          <a:lstStyle/>
          <a:p>
            <a:fld id="{1C5AEB82-1D1E-4173-B4F9-72350FDD84EC}" type="slidenum">
              <a:rPr lang="en-US" smtClean="0"/>
              <a:t>5</a:t>
            </a:fld>
            <a:endParaRPr lang="en-US"/>
          </a:p>
        </p:txBody>
      </p:sp>
    </p:spTree>
    <p:extLst>
      <p:ext uri="{BB962C8B-B14F-4D97-AF65-F5344CB8AC3E}">
        <p14:creationId xmlns:p14="http://schemas.microsoft.com/office/powerpoint/2010/main" val="3148209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34DB0-5FF8-B3C1-1AAD-227C902FDB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2E0F7-9D29-20BB-F6F8-BB519A4FB2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D72B60-453B-7462-9191-00B4A3527652}"/>
              </a:ext>
            </a:extLst>
          </p:cNvPr>
          <p:cNvSpPr>
            <a:spLocks noGrp="1"/>
          </p:cNvSpPr>
          <p:nvPr>
            <p:ph type="body" idx="1"/>
          </p:nvPr>
        </p:nvSpPr>
        <p:spPr/>
        <p:txBody>
          <a:bodyPr/>
          <a:lstStyle/>
          <a:p>
            <a:r>
              <a:rPr lang="en-US" dirty="0"/>
              <a:t>For point 3, or perhaps fortunately. To expound on this point if the wording is confusing. If ChatGPT generated 3 correct pre-conditions and 2 incorrect post-conditions, Copilot would find that, and vice versa.</a:t>
            </a:r>
          </a:p>
          <a:p>
            <a:endParaRPr lang="en-US" dirty="0"/>
          </a:p>
          <a:p>
            <a:r>
              <a:rPr lang="en-US" dirty="0"/>
              <a:t>So, just as a quick recap, we did three things, prompt each model, and then have them rate the others answers</a:t>
            </a:r>
          </a:p>
        </p:txBody>
      </p:sp>
      <p:sp>
        <p:nvSpPr>
          <p:cNvPr id="4" name="Slide Number Placeholder 3">
            <a:extLst>
              <a:ext uri="{FF2B5EF4-FFF2-40B4-BE49-F238E27FC236}">
                <a16:creationId xmlns:a16="http://schemas.microsoft.com/office/drawing/2014/main" id="{01AB7F3F-4C68-8E1B-27B2-B19483CD49F0}"/>
              </a:ext>
            </a:extLst>
          </p:cNvPr>
          <p:cNvSpPr>
            <a:spLocks noGrp="1"/>
          </p:cNvSpPr>
          <p:nvPr>
            <p:ph type="sldNum" sz="quarter" idx="5"/>
          </p:nvPr>
        </p:nvSpPr>
        <p:spPr/>
        <p:txBody>
          <a:bodyPr/>
          <a:lstStyle/>
          <a:p>
            <a:fld id="{1C5AEB82-1D1E-4173-B4F9-72350FDD84EC}" type="slidenum">
              <a:rPr lang="en-US" smtClean="0"/>
              <a:t>6</a:t>
            </a:fld>
            <a:endParaRPr lang="en-US"/>
          </a:p>
        </p:txBody>
      </p:sp>
    </p:spTree>
    <p:extLst>
      <p:ext uri="{BB962C8B-B14F-4D97-AF65-F5344CB8AC3E}">
        <p14:creationId xmlns:p14="http://schemas.microsoft.com/office/powerpoint/2010/main" val="24577117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a:t>
            </a:r>
            <a:r>
              <a:rPr lang="en-US" dirty="0" err="1"/>
              <a:t>pyautogui</a:t>
            </a:r>
            <a:r>
              <a:rPr lang="en-US" dirty="0"/>
              <a:t> I automated the prompts being fed for the sake of my time. Just spun up a VM and let it run (</a:t>
            </a:r>
            <a:r>
              <a:rPr lang="en-US" dirty="0" err="1"/>
              <a:t>moreso</a:t>
            </a:r>
            <a:r>
              <a:rPr lang="en-US" dirty="0"/>
              <a:t> for prompt 2 instead of 1)</a:t>
            </a:r>
          </a:p>
          <a:p>
            <a:r>
              <a:rPr lang="en-US" dirty="0"/>
              <a:t>Covered next slide</a:t>
            </a:r>
          </a:p>
          <a:p>
            <a:r>
              <a:rPr lang="en-US" dirty="0"/>
              <a:t>Viable future for automation with manual review/spot checking</a:t>
            </a:r>
          </a:p>
          <a:p>
            <a:r>
              <a:rPr lang="en-US" dirty="0"/>
              <a:t>Maybe a NN or other ML technique </a:t>
            </a:r>
          </a:p>
        </p:txBody>
      </p:sp>
      <p:sp>
        <p:nvSpPr>
          <p:cNvPr id="4" name="Slide Number Placeholder 3"/>
          <p:cNvSpPr>
            <a:spLocks noGrp="1"/>
          </p:cNvSpPr>
          <p:nvPr>
            <p:ph type="sldNum" sz="quarter" idx="5"/>
          </p:nvPr>
        </p:nvSpPr>
        <p:spPr/>
        <p:txBody>
          <a:bodyPr/>
          <a:lstStyle/>
          <a:p>
            <a:fld id="{1C5AEB82-1D1E-4173-B4F9-72350FDD84EC}" type="slidenum">
              <a:rPr lang="en-US" smtClean="0"/>
              <a:t>7</a:t>
            </a:fld>
            <a:endParaRPr lang="en-US"/>
          </a:p>
        </p:txBody>
      </p:sp>
    </p:spTree>
    <p:extLst>
      <p:ext uri="{BB962C8B-B14F-4D97-AF65-F5344CB8AC3E}">
        <p14:creationId xmlns:p14="http://schemas.microsoft.com/office/powerpoint/2010/main" val="1500025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wasn’t asked for in the assignment, but here are the results of my ‘research’ I was surprised to say the least.</a:t>
            </a:r>
          </a:p>
        </p:txBody>
      </p:sp>
      <p:sp>
        <p:nvSpPr>
          <p:cNvPr id="4" name="Slide Number Placeholder 3"/>
          <p:cNvSpPr>
            <a:spLocks noGrp="1"/>
          </p:cNvSpPr>
          <p:nvPr>
            <p:ph type="sldNum" sz="quarter" idx="5"/>
          </p:nvPr>
        </p:nvSpPr>
        <p:spPr/>
        <p:txBody>
          <a:bodyPr/>
          <a:lstStyle/>
          <a:p>
            <a:fld id="{1C5AEB82-1D1E-4173-B4F9-72350FDD84EC}" type="slidenum">
              <a:rPr lang="en-US" smtClean="0"/>
              <a:t>8</a:t>
            </a:fld>
            <a:endParaRPr lang="en-US"/>
          </a:p>
        </p:txBody>
      </p:sp>
    </p:spTree>
    <p:extLst>
      <p:ext uri="{BB962C8B-B14F-4D97-AF65-F5344CB8AC3E}">
        <p14:creationId xmlns:p14="http://schemas.microsoft.com/office/powerpoint/2010/main" val="2096990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55E31-5D5A-5A1A-4A13-671B8F67DF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40039B-5E42-4DD4-6D62-93BF522CC9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4EF38C-8B39-8B3E-F8BA-BDCE339E66E7}"/>
              </a:ext>
            </a:extLst>
          </p:cNvPr>
          <p:cNvSpPr>
            <a:spLocks noGrp="1"/>
          </p:cNvSpPr>
          <p:nvPr>
            <p:ph type="dt" sz="half" idx="10"/>
          </p:nvPr>
        </p:nvSpPr>
        <p:spPr/>
        <p:txBody>
          <a:bodyPr/>
          <a:lstStyle/>
          <a:p>
            <a:fld id="{C0BCE6AD-C3D3-49F9-AA2E-1C236C1FC263}" type="datetimeFigureOut">
              <a:rPr lang="en-US" smtClean="0"/>
              <a:t>12/8/25</a:t>
            </a:fld>
            <a:endParaRPr lang="en-US"/>
          </a:p>
        </p:txBody>
      </p:sp>
      <p:sp>
        <p:nvSpPr>
          <p:cNvPr id="5" name="Footer Placeholder 4">
            <a:extLst>
              <a:ext uri="{FF2B5EF4-FFF2-40B4-BE49-F238E27FC236}">
                <a16:creationId xmlns:a16="http://schemas.microsoft.com/office/drawing/2014/main" id="{A0398D1F-7D58-5A85-C14D-D404CA9D54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EF916-E696-204D-A672-5B5C0ED254BE}"/>
              </a:ext>
            </a:extLst>
          </p:cNvPr>
          <p:cNvSpPr>
            <a:spLocks noGrp="1"/>
          </p:cNvSpPr>
          <p:nvPr>
            <p:ph type="sldNum" sz="quarter" idx="12"/>
          </p:nvPr>
        </p:nvSpPr>
        <p:spPr/>
        <p:txBody>
          <a:bodyPr/>
          <a:lstStyle/>
          <a:p>
            <a:fld id="{8E4ADCC6-FB1D-42F5-97B3-C2C7B9442106}" type="slidenum">
              <a:rPr lang="en-US" smtClean="0"/>
              <a:t>‹#›</a:t>
            </a:fld>
            <a:endParaRPr lang="en-US"/>
          </a:p>
        </p:txBody>
      </p:sp>
    </p:spTree>
    <p:extLst>
      <p:ext uri="{BB962C8B-B14F-4D97-AF65-F5344CB8AC3E}">
        <p14:creationId xmlns:p14="http://schemas.microsoft.com/office/powerpoint/2010/main" val="1724158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AE9A0-34E3-9922-A12F-4BEAA20D21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2B1176-8DBD-D64D-133E-3B861B36BC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08AB03-2C21-4C32-F878-EB9C388398C8}"/>
              </a:ext>
            </a:extLst>
          </p:cNvPr>
          <p:cNvSpPr>
            <a:spLocks noGrp="1"/>
          </p:cNvSpPr>
          <p:nvPr>
            <p:ph type="dt" sz="half" idx="10"/>
          </p:nvPr>
        </p:nvSpPr>
        <p:spPr/>
        <p:txBody>
          <a:bodyPr/>
          <a:lstStyle/>
          <a:p>
            <a:fld id="{C0BCE6AD-C3D3-49F9-AA2E-1C236C1FC263}" type="datetimeFigureOut">
              <a:rPr lang="en-US" smtClean="0"/>
              <a:t>12/8/25</a:t>
            </a:fld>
            <a:endParaRPr lang="en-US"/>
          </a:p>
        </p:txBody>
      </p:sp>
      <p:sp>
        <p:nvSpPr>
          <p:cNvPr id="5" name="Footer Placeholder 4">
            <a:extLst>
              <a:ext uri="{FF2B5EF4-FFF2-40B4-BE49-F238E27FC236}">
                <a16:creationId xmlns:a16="http://schemas.microsoft.com/office/drawing/2014/main" id="{A37B6B55-C80A-D03E-2077-7B4BCF7E65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59A16A-006D-F554-B1A8-1A917ECEFFBA}"/>
              </a:ext>
            </a:extLst>
          </p:cNvPr>
          <p:cNvSpPr>
            <a:spLocks noGrp="1"/>
          </p:cNvSpPr>
          <p:nvPr>
            <p:ph type="sldNum" sz="quarter" idx="12"/>
          </p:nvPr>
        </p:nvSpPr>
        <p:spPr/>
        <p:txBody>
          <a:bodyPr/>
          <a:lstStyle/>
          <a:p>
            <a:fld id="{8E4ADCC6-FB1D-42F5-97B3-C2C7B9442106}" type="slidenum">
              <a:rPr lang="en-US" smtClean="0"/>
              <a:t>‹#›</a:t>
            </a:fld>
            <a:endParaRPr lang="en-US"/>
          </a:p>
        </p:txBody>
      </p:sp>
    </p:spTree>
    <p:extLst>
      <p:ext uri="{BB962C8B-B14F-4D97-AF65-F5344CB8AC3E}">
        <p14:creationId xmlns:p14="http://schemas.microsoft.com/office/powerpoint/2010/main" val="2007368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E2A6D-D674-03AA-FE5B-A84130A8B5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10D90C5-F69C-B7A8-58F3-316F39FD9A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87427D-9938-71A3-F7B5-C9ECAE60C9E1}"/>
              </a:ext>
            </a:extLst>
          </p:cNvPr>
          <p:cNvSpPr>
            <a:spLocks noGrp="1"/>
          </p:cNvSpPr>
          <p:nvPr>
            <p:ph type="dt" sz="half" idx="10"/>
          </p:nvPr>
        </p:nvSpPr>
        <p:spPr/>
        <p:txBody>
          <a:bodyPr/>
          <a:lstStyle/>
          <a:p>
            <a:fld id="{C0BCE6AD-C3D3-49F9-AA2E-1C236C1FC263}" type="datetimeFigureOut">
              <a:rPr lang="en-US" smtClean="0"/>
              <a:t>12/8/25</a:t>
            </a:fld>
            <a:endParaRPr lang="en-US"/>
          </a:p>
        </p:txBody>
      </p:sp>
      <p:sp>
        <p:nvSpPr>
          <p:cNvPr id="5" name="Footer Placeholder 4">
            <a:extLst>
              <a:ext uri="{FF2B5EF4-FFF2-40B4-BE49-F238E27FC236}">
                <a16:creationId xmlns:a16="http://schemas.microsoft.com/office/drawing/2014/main" id="{7F2EEF4A-B332-11C7-3633-351AE5F62C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3CB6D5-294C-7DC4-F26B-FBF26543D76A}"/>
              </a:ext>
            </a:extLst>
          </p:cNvPr>
          <p:cNvSpPr>
            <a:spLocks noGrp="1"/>
          </p:cNvSpPr>
          <p:nvPr>
            <p:ph type="sldNum" sz="quarter" idx="12"/>
          </p:nvPr>
        </p:nvSpPr>
        <p:spPr/>
        <p:txBody>
          <a:bodyPr/>
          <a:lstStyle/>
          <a:p>
            <a:fld id="{8E4ADCC6-FB1D-42F5-97B3-C2C7B9442106}" type="slidenum">
              <a:rPr lang="en-US" smtClean="0"/>
              <a:t>‹#›</a:t>
            </a:fld>
            <a:endParaRPr lang="en-US"/>
          </a:p>
        </p:txBody>
      </p:sp>
    </p:spTree>
    <p:extLst>
      <p:ext uri="{BB962C8B-B14F-4D97-AF65-F5344CB8AC3E}">
        <p14:creationId xmlns:p14="http://schemas.microsoft.com/office/powerpoint/2010/main" val="3759226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E4557-54C9-9142-DDD8-906FBA1832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6D92F3-1085-FBD3-24CB-AE8CF452EB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06EC5BB-DFC5-C163-1A5C-D95097423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D25030B-550E-0BCE-112C-008E6B406EA5}"/>
              </a:ext>
            </a:extLst>
          </p:cNvPr>
          <p:cNvSpPr>
            <a:spLocks noGrp="1"/>
          </p:cNvSpPr>
          <p:nvPr>
            <p:ph type="dt" sz="half" idx="10"/>
          </p:nvPr>
        </p:nvSpPr>
        <p:spPr/>
        <p:txBody>
          <a:bodyPr/>
          <a:lstStyle/>
          <a:p>
            <a:fld id="{C0BCE6AD-C3D3-49F9-AA2E-1C236C1FC263}" type="datetimeFigureOut">
              <a:rPr lang="en-US" smtClean="0"/>
              <a:t>12/8/25</a:t>
            </a:fld>
            <a:endParaRPr lang="en-US"/>
          </a:p>
        </p:txBody>
      </p:sp>
      <p:sp>
        <p:nvSpPr>
          <p:cNvPr id="6" name="Footer Placeholder 5">
            <a:extLst>
              <a:ext uri="{FF2B5EF4-FFF2-40B4-BE49-F238E27FC236}">
                <a16:creationId xmlns:a16="http://schemas.microsoft.com/office/drawing/2014/main" id="{0B768187-68AA-7050-ED65-3BCD521CFE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DCE22A-CCC8-9C14-3A5A-8DEB5EF25EE3}"/>
              </a:ext>
            </a:extLst>
          </p:cNvPr>
          <p:cNvSpPr>
            <a:spLocks noGrp="1"/>
          </p:cNvSpPr>
          <p:nvPr>
            <p:ph type="sldNum" sz="quarter" idx="12"/>
          </p:nvPr>
        </p:nvSpPr>
        <p:spPr/>
        <p:txBody>
          <a:bodyPr/>
          <a:lstStyle/>
          <a:p>
            <a:fld id="{8E4ADCC6-FB1D-42F5-97B3-C2C7B9442106}" type="slidenum">
              <a:rPr lang="en-US" smtClean="0"/>
              <a:t>‹#›</a:t>
            </a:fld>
            <a:endParaRPr lang="en-US"/>
          </a:p>
        </p:txBody>
      </p:sp>
    </p:spTree>
    <p:extLst>
      <p:ext uri="{BB962C8B-B14F-4D97-AF65-F5344CB8AC3E}">
        <p14:creationId xmlns:p14="http://schemas.microsoft.com/office/powerpoint/2010/main" val="655131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F642E-3A6C-6FD1-A756-C468D9BD0B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96830C-5106-7B88-94AC-1039D20C5B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C7A143-A0B3-D85D-2561-B961B359C5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C92F21-90EC-81BE-C745-39E8D61172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EEDBBA-0E16-7582-E3F4-40003F6DCE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4B1B12-2B5B-AA04-51C2-83E29035C5F0}"/>
              </a:ext>
            </a:extLst>
          </p:cNvPr>
          <p:cNvSpPr>
            <a:spLocks noGrp="1"/>
          </p:cNvSpPr>
          <p:nvPr>
            <p:ph type="dt" sz="half" idx="10"/>
          </p:nvPr>
        </p:nvSpPr>
        <p:spPr/>
        <p:txBody>
          <a:bodyPr/>
          <a:lstStyle/>
          <a:p>
            <a:fld id="{C0BCE6AD-C3D3-49F9-AA2E-1C236C1FC263}" type="datetimeFigureOut">
              <a:rPr lang="en-US" smtClean="0"/>
              <a:t>12/8/25</a:t>
            </a:fld>
            <a:endParaRPr lang="en-US"/>
          </a:p>
        </p:txBody>
      </p:sp>
      <p:sp>
        <p:nvSpPr>
          <p:cNvPr id="8" name="Footer Placeholder 7">
            <a:extLst>
              <a:ext uri="{FF2B5EF4-FFF2-40B4-BE49-F238E27FC236}">
                <a16:creationId xmlns:a16="http://schemas.microsoft.com/office/drawing/2014/main" id="{404C2265-CA47-8981-F3A4-7E13D6D234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1DB5EF-C885-8241-8319-A1AE927DA2CA}"/>
              </a:ext>
            </a:extLst>
          </p:cNvPr>
          <p:cNvSpPr>
            <a:spLocks noGrp="1"/>
          </p:cNvSpPr>
          <p:nvPr>
            <p:ph type="sldNum" sz="quarter" idx="12"/>
          </p:nvPr>
        </p:nvSpPr>
        <p:spPr/>
        <p:txBody>
          <a:bodyPr/>
          <a:lstStyle/>
          <a:p>
            <a:fld id="{8E4ADCC6-FB1D-42F5-97B3-C2C7B9442106}" type="slidenum">
              <a:rPr lang="en-US" smtClean="0"/>
              <a:t>‹#›</a:t>
            </a:fld>
            <a:endParaRPr lang="en-US"/>
          </a:p>
        </p:txBody>
      </p:sp>
    </p:spTree>
    <p:extLst>
      <p:ext uri="{BB962C8B-B14F-4D97-AF65-F5344CB8AC3E}">
        <p14:creationId xmlns:p14="http://schemas.microsoft.com/office/powerpoint/2010/main" val="789609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98D43-865B-B19D-9715-306AEA52A3D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FD0C17-7837-47AA-2541-C06259E430F3}"/>
              </a:ext>
            </a:extLst>
          </p:cNvPr>
          <p:cNvSpPr>
            <a:spLocks noGrp="1"/>
          </p:cNvSpPr>
          <p:nvPr>
            <p:ph type="dt" sz="half" idx="10"/>
          </p:nvPr>
        </p:nvSpPr>
        <p:spPr/>
        <p:txBody>
          <a:bodyPr/>
          <a:lstStyle/>
          <a:p>
            <a:fld id="{C0BCE6AD-C3D3-49F9-AA2E-1C236C1FC263}" type="datetimeFigureOut">
              <a:rPr lang="en-US" smtClean="0"/>
              <a:t>12/8/25</a:t>
            </a:fld>
            <a:endParaRPr lang="en-US"/>
          </a:p>
        </p:txBody>
      </p:sp>
      <p:sp>
        <p:nvSpPr>
          <p:cNvPr id="4" name="Footer Placeholder 3">
            <a:extLst>
              <a:ext uri="{FF2B5EF4-FFF2-40B4-BE49-F238E27FC236}">
                <a16:creationId xmlns:a16="http://schemas.microsoft.com/office/drawing/2014/main" id="{06352FA7-8A22-12E0-1F53-9851A66F0DF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02B043-B55A-CDFE-98D8-28D2A5575F8B}"/>
              </a:ext>
            </a:extLst>
          </p:cNvPr>
          <p:cNvSpPr>
            <a:spLocks noGrp="1"/>
          </p:cNvSpPr>
          <p:nvPr>
            <p:ph type="sldNum" sz="quarter" idx="12"/>
          </p:nvPr>
        </p:nvSpPr>
        <p:spPr/>
        <p:txBody>
          <a:bodyPr/>
          <a:lstStyle/>
          <a:p>
            <a:fld id="{8E4ADCC6-FB1D-42F5-97B3-C2C7B9442106}" type="slidenum">
              <a:rPr lang="en-US" smtClean="0"/>
              <a:t>‹#›</a:t>
            </a:fld>
            <a:endParaRPr lang="en-US"/>
          </a:p>
        </p:txBody>
      </p:sp>
    </p:spTree>
    <p:extLst>
      <p:ext uri="{BB962C8B-B14F-4D97-AF65-F5344CB8AC3E}">
        <p14:creationId xmlns:p14="http://schemas.microsoft.com/office/powerpoint/2010/main" val="3926655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1D677B-B5C2-7718-D706-35C56C060BA8}"/>
              </a:ext>
            </a:extLst>
          </p:cNvPr>
          <p:cNvSpPr>
            <a:spLocks noGrp="1"/>
          </p:cNvSpPr>
          <p:nvPr>
            <p:ph type="dt" sz="half" idx="10"/>
          </p:nvPr>
        </p:nvSpPr>
        <p:spPr/>
        <p:txBody>
          <a:bodyPr/>
          <a:lstStyle/>
          <a:p>
            <a:fld id="{C0BCE6AD-C3D3-49F9-AA2E-1C236C1FC263}" type="datetimeFigureOut">
              <a:rPr lang="en-US" smtClean="0"/>
              <a:t>12/8/25</a:t>
            </a:fld>
            <a:endParaRPr lang="en-US"/>
          </a:p>
        </p:txBody>
      </p:sp>
      <p:sp>
        <p:nvSpPr>
          <p:cNvPr id="3" name="Footer Placeholder 2">
            <a:extLst>
              <a:ext uri="{FF2B5EF4-FFF2-40B4-BE49-F238E27FC236}">
                <a16:creationId xmlns:a16="http://schemas.microsoft.com/office/drawing/2014/main" id="{18447366-5B86-EE05-9CD9-A5280B2B622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D1DADD3-3BE5-5390-DCFF-4C961CE2DEB9}"/>
              </a:ext>
            </a:extLst>
          </p:cNvPr>
          <p:cNvSpPr>
            <a:spLocks noGrp="1"/>
          </p:cNvSpPr>
          <p:nvPr>
            <p:ph type="sldNum" sz="quarter" idx="12"/>
          </p:nvPr>
        </p:nvSpPr>
        <p:spPr/>
        <p:txBody>
          <a:bodyPr/>
          <a:lstStyle/>
          <a:p>
            <a:fld id="{8E4ADCC6-FB1D-42F5-97B3-C2C7B9442106}" type="slidenum">
              <a:rPr lang="en-US" smtClean="0"/>
              <a:t>‹#›</a:t>
            </a:fld>
            <a:endParaRPr lang="en-US"/>
          </a:p>
        </p:txBody>
      </p:sp>
    </p:spTree>
    <p:extLst>
      <p:ext uri="{BB962C8B-B14F-4D97-AF65-F5344CB8AC3E}">
        <p14:creationId xmlns:p14="http://schemas.microsoft.com/office/powerpoint/2010/main" val="2087505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7534B-B56F-A820-F315-B0EB9D6816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E5DCB8-9FAD-176B-B950-ED59C90F78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0FA99F-1BDF-B2DD-65C2-29854D92F3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2312A5-6DED-E803-FCA9-1EF4859A400C}"/>
              </a:ext>
            </a:extLst>
          </p:cNvPr>
          <p:cNvSpPr>
            <a:spLocks noGrp="1"/>
          </p:cNvSpPr>
          <p:nvPr>
            <p:ph type="dt" sz="half" idx="10"/>
          </p:nvPr>
        </p:nvSpPr>
        <p:spPr/>
        <p:txBody>
          <a:bodyPr/>
          <a:lstStyle/>
          <a:p>
            <a:fld id="{C0BCE6AD-C3D3-49F9-AA2E-1C236C1FC263}" type="datetimeFigureOut">
              <a:rPr lang="en-US" smtClean="0"/>
              <a:t>12/8/25</a:t>
            </a:fld>
            <a:endParaRPr lang="en-US"/>
          </a:p>
        </p:txBody>
      </p:sp>
      <p:sp>
        <p:nvSpPr>
          <p:cNvPr id="6" name="Footer Placeholder 5">
            <a:extLst>
              <a:ext uri="{FF2B5EF4-FFF2-40B4-BE49-F238E27FC236}">
                <a16:creationId xmlns:a16="http://schemas.microsoft.com/office/drawing/2014/main" id="{BAFAE863-7C97-FFCD-E895-86C6E0E5D1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97FF30-5B81-2F0E-C43B-F949B3B995B9}"/>
              </a:ext>
            </a:extLst>
          </p:cNvPr>
          <p:cNvSpPr>
            <a:spLocks noGrp="1"/>
          </p:cNvSpPr>
          <p:nvPr>
            <p:ph type="sldNum" sz="quarter" idx="12"/>
          </p:nvPr>
        </p:nvSpPr>
        <p:spPr/>
        <p:txBody>
          <a:bodyPr/>
          <a:lstStyle/>
          <a:p>
            <a:fld id="{8E4ADCC6-FB1D-42F5-97B3-C2C7B9442106}" type="slidenum">
              <a:rPr lang="en-US" smtClean="0"/>
              <a:t>‹#›</a:t>
            </a:fld>
            <a:endParaRPr lang="en-US"/>
          </a:p>
        </p:txBody>
      </p:sp>
    </p:spTree>
    <p:extLst>
      <p:ext uri="{BB962C8B-B14F-4D97-AF65-F5344CB8AC3E}">
        <p14:creationId xmlns:p14="http://schemas.microsoft.com/office/powerpoint/2010/main" val="871712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E1E5D-3014-79B2-2D0A-1BDBB2A297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DB5182-3DC0-39EC-528D-4256FDF406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4C7B6B-4753-B8F6-1937-BF1E86E778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7D73E9-250F-D168-EC4B-362E8B58AA10}"/>
              </a:ext>
            </a:extLst>
          </p:cNvPr>
          <p:cNvSpPr>
            <a:spLocks noGrp="1"/>
          </p:cNvSpPr>
          <p:nvPr>
            <p:ph type="dt" sz="half" idx="10"/>
          </p:nvPr>
        </p:nvSpPr>
        <p:spPr/>
        <p:txBody>
          <a:bodyPr/>
          <a:lstStyle/>
          <a:p>
            <a:fld id="{C0BCE6AD-C3D3-49F9-AA2E-1C236C1FC263}" type="datetimeFigureOut">
              <a:rPr lang="en-US" smtClean="0"/>
              <a:t>12/8/25</a:t>
            </a:fld>
            <a:endParaRPr lang="en-US"/>
          </a:p>
        </p:txBody>
      </p:sp>
      <p:sp>
        <p:nvSpPr>
          <p:cNvPr id="6" name="Footer Placeholder 5">
            <a:extLst>
              <a:ext uri="{FF2B5EF4-FFF2-40B4-BE49-F238E27FC236}">
                <a16:creationId xmlns:a16="http://schemas.microsoft.com/office/drawing/2014/main" id="{92FEA4CF-153C-6BA2-15C6-721AEA087E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11220C-FF2F-D7DD-6D1D-FDA2EF8A76D8}"/>
              </a:ext>
            </a:extLst>
          </p:cNvPr>
          <p:cNvSpPr>
            <a:spLocks noGrp="1"/>
          </p:cNvSpPr>
          <p:nvPr>
            <p:ph type="sldNum" sz="quarter" idx="12"/>
          </p:nvPr>
        </p:nvSpPr>
        <p:spPr/>
        <p:txBody>
          <a:bodyPr/>
          <a:lstStyle/>
          <a:p>
            <a:fld id="{8E4ADCC6-FB1D-42F5-97B3-C2C7B9442106}" type="slidenum">
              <a:rPr lang="en-US" smtClean="0"/>
              <a:t>‹#›</a:t>
            </a:fld>
            <a:endParaRPr lang="en-US"/>
          </a:p>
        </p:txBody>
      </p:sp>
    </p:spTree>
    <p:extLst>
      <p:ext uri="{BB962C8B-B14F-4D97-AF65-F5344CB8AC3E}">
        <p14:creationId xmlns:p14="http://schemas.microsoft.com/office/powerpoint/2010/main" val="1932011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3CE5B-3A22-070A-7ED0-A71324B7D4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E396ABD-B0F0-0C80-9987-E1EADE428F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95A1DD-BF60-7EBD-6D19-98B9CCE500B6}"/>
              </a:ext>
            </a:extLst>
          </p:cNvPr>
          <p:cNvSpPr>
            <a:spLocks noGrp="1"/>
          </p:cNvSpPr>
          <p:nvPr>
            <p:ph type="dt" sz="half" idx="10"/>
          </p:nvPr>
        </p:nvSpPr>
        <p:spPr/>
        <p:txBody>
          <a:bodyPr/>
          <a:lstStyle/>
          <a:p>
            <a:fld id="{C0BCE6AD-C3D3-49F9-AA2E-1C236C1FC263}" type="datetimeFigureOut">
              <a:rPr lang="en-US" smtClean="0"/>
              <a:t>12/8/25</a:t>
            </a:fld>
            <a:endParaRPr lang="en-US"/>
          </a:p>
        </p:txBody>
      </p:sp>
      <p:sp>
        <p:nvSpPr>
          <p:cNvPr id="5" name="Footer Placeholder 4">
            <a:extLst>
              <a:ext uri="{FF2B5EF4-FFF2-40B4-BE49-F238E27FC236}">
                <a16:creationId xmlns:a16="http://schemas.microsoft.com/office/drawing/2014/main" id="{CE55E43D-C3E7-F784-264E-6D513F2766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523158-78DC-80FF-7FC1-94B63E43C3E8}"/>
              </a:ext>
            </a:extLst>
          </p:cNvPr>
          <p:cNvSpPr>
            <a:spLocks noGrp="1"/>
          </p:cNvSpPr>
          <p:nvPr>
            <p:ph type="sldNum" sz="quarter" idx="12"/>
          </p:nvPr>
        </p:nvSpPr>
        <p:spPr/>
        <p:txBody>
          <a:bodyPr/>
          <a:lstStyle/>
          <a:p>
            <a:fld id="{8E4ADCC6-FB1D-42F5-97B3-C2C7B9442106}" type="slidenum">
              <a:rPr lang="en-US" smtClean="0"/>
              <a:t>‹#›</a:t>
            </a:fld>
            <a:endParaRPr lang="en-US"/>
          </a:p>
        </p:txBody>
      </p:sp>
    </p:spTree>
    <p:extLst>
      <p:ext uri="{BB962C8B-B14F-4D97-AF65-F5344CB8AC3E}">
        <p14:creationId xmlns:p14="http://schemas.microsoft.com/office/powerpoint/2010/main" val="3964012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0707B1-9A06-7E6C-6A3F-9A6586C671E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31567F6-EDBC-D5F8-2B30-844713E92E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2A0F3A-58DE-7CCB-503B-ADA4DAB7D100}"/>
              </a:ext>
            </a:extLst>
          </p:cNvPr>
          <p:cNvSpPr>
            <a:spLocks noGrp="1"/>
          </p:cNvSpPr>
          <p:nvPr>
            <p:ph type="dt" sz="half" idx="10"/>
          </p:nvPr>
        </p:nvSpPr>
        <p:spPr/>
        <p:txBody>
          <a:bodyPr/>
          <a:lstStyle/>
          <a:p>
            <a:fld id="{C0BCE6AD-C3D3-49F9-AA2E-1C236C1FC263}" type="datetimeFigureOut">
              <a:rPr lang="en-US" smtClean="0"/>
              <a:t>12/8/25</a:t>
            </a:fld>
            <a:endParaRPr lang="en-US"/>
          </a:p>
        </p:txBody>
      </p:sp>
      <p:sp>
        <p:nvSpPr>
          <p:cNvPr id="5" name="Footer Placeholder 4">
            <a:extLst>
              <a:ext uri="{FF2B5EF4-FFF2-40B4-BE49-F238E27FC236}">
                <a16:creationId xmlns:a16="http://schemas.microsoft.com/office/drawing/2014/main" id="{58776C24-5936-728D-6240-5093CF9147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848050-5A3E-6BB3-D33A-A908658DC18A}"/>
              </a:ext>
            </a:extLst>
          </p:cNvPr>
          <p:cNvSpPr>
            <a:spLocks noGrp="1"/>
          </p:cNvSpPr>
          <p:nvPr>
            <p:ph type="sldNum" sz="quarter" idx="12"/>
          </p:nvPr>
        </p:nvSpPr>
        <p:spPr/>
        <p:txBody>
          <a:bodyPr/>
          <a:lstStyle/>
          <a:p>
            <a:fld id="{8E4ADCC6-FB1D-42F5-97B3-C2C7B9442106}" type="slidenum">
              <a:rPr lang="en-US" smtClean="0"/>
              <a:t>‹#›</a:t>
            </a:fld>
            <a:endParaRPr lang="en-US"/>
          </a:p>
        </p:txBody>
      </p:sp>
    </p:spTree>
    <p:extLst>
      <p:ext uri="{BB962C8B-B14F-4D97-AF65-F5344CB8AC3E}">
        <p14:creationId xmlns:p14="http://schemas.microsoft.com/office/powerpoint/2010/main" val="1804808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AF2562-6194-1EC4-07E8-71B1E1B349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3F6465-B62D-AE45-11C5-4B5917E26F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3912FB-BB12-DF88-CEB6-088D09C81A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BCE6AD-C3D3-49F9-AA2E-1C236C1FC263}" type="datetimeFigureOut">
              <a:rPr lang="en-US" smtClean="0"/>
              <a:t>12/8/25</a:t>
            </a:fld>
            <a:endParaRPr lang="en-US"/>
          </a:p>
        </p:txBody>
      </p:sp>
      <p:sp>
        <p:nvSpPr>
          <p:cNvPr id="5" name="Footer Placeholder 4">
            <a:extLst>
              <a:ext uri="{FF2B5EF4-FFF2-40B4-BE49-F238E27FC236}">
                <a16:creationId xmlns:a16="http://schemas.microsoft.com/office/drawing/2014/main" id="{1E87AD0B-9672-6318-AC88-8B3418A237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136104C-66CD-9121-64FA-762264CF87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4ADCC6-FB1D-42F5-97B3-C2C7B9442106}" type="slidenum">
              <a:rPr lang="en-US" smtClean="0"/>
              <a:t>‹#›</a:t>
            </a:fld>
            <a:endParaRPr lang="en-US"/>
          </a:p>
        </p:txBody>
      </p:sp>
    </p:spTree>
    <p:extLst>
      <p:ext uri="{BB962C8B-B14F-4D97-AF65-F5344CB8AC3E}">
        <p14:creationId xmlns:p14="http://schemas.microsoft.com/office/powerpoint/2010/main" val="2663646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16D5470-7008-DF0F-AB37-150C2C545A3D}"/>
              </a:ext>
            </a:extLst>
          </p:cNvPr>
          <p:cNvSpPr>
            <a:spLocks noGrp="1"/>
          </p:cNvSpPr>
          <p:nvPr>
            <p:ph type="ctrTitle"/>
          </p:nvPr>
        </p:nvSpPr>
        <p:spPr>
          <a:xfrm>
            <a:off x="1314824" y="735106"/>
            <a:ext cx="10053763" cy="2928470"/>
          </a:xfrm>
        </p:spPr>
        <p:txBody>
          <a:bodyPr anchor="b">
            <a:normAutofit/>
          </a:bodyPr>
          <a:lstStyle/>
          <a:p>
            <a:pPr algn="l"/>
            <a:r>
              <a:rPr lang="en-US" sz="4800">
                <a:solidFill>
                  <a:srgbClr val="FFFFFF"/>
                </a:solidFill>
              </a:rPr>
              <a:t>Leveraging LLMs to Handle Code Comprehension Tasks</a:t>
            </a:r>
          </a:p>
        </p:txBody>
      </p:sp>
      <p:sp>
        <p:nvSpPr>
          <p:cNvPr id="3" name="Subtitle 2">
            <a:extLst>
              <a:ext uri="{FF2B5EF4-FFF2-40B4-BE49-F238E27FC236}">
                <a16:creationId xmlns:a16="http://schemas.microsoft.com/office/drawing/2014/main" id="{44F16C82-FB84-4925-E027-4934BCFBE90A}"/>
              </a:ext>
            </a:extLst>
          </p:cNvPr>
          <p:cNvSpPr>
            <a:spLocks noGrp="1"/>
          </p:cNvSpPr>
          <p:nvPr>
            <p:ph type="subTitle" idx="1"/>
          </p:nvPr>
        </p:nvSpPr>
        <p:spPr>
          <a:xfrm>
            <a:off x="1350682" y="4870824"/>
            <a:ext cx="10005951" cy="1458258"/>
          </a:xfrm>
        </p:spPr>
        <p:txBody>
          <a:bodyPr anchor="ctr">
            <a:normAutofit/>
          </a:bodyPr>
          <a:lstStyle/>
          <a:p>
            <a:pPr algn="l"/>
            <a:r>
              <a:rPr lang="en-US" dirty="0"/>
              <a:t>Ben Herdman</a:t>
            </a:r>
          </a:p>
        </p:txBody>
      </p:sp>
    </p:spTree>
    <p:extLst>
      <p:ext uri="{BB962C8B-B14F-4D97-AF65-F5344CB8AC3E}">
        <p14:creationId xmlns:p14="http://schemas.microsoft.com/office/powerpoint/2010/main" val="2696092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EE3F30-BF4E-F125-0D30-AF2313C795DF}"/>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Motivation</a:t>
            </a:r>
          </a:p>
        </p:txBody>
      </p:sp>
      <p:sp>
        <p:nvSpPr>
          <p:cNvPr id="3" name="Content Placeholder 2">
            <a:extLst>
              <a:ext uri="{FF2B5EF4-FFF2-40B4-BE49-F238E27FC236}">
                <a16:creationId xmlns:a16="http://schemas.microsoft.com/office/drawing/2014/main" id="{E413F95E-8C53-67F1-8097-BF5919EC04D1}"/>
              </a:ext>
            </a:extLst>
          </p:cNvPr>
          <p:cNvSpPr>
            <a:spLocks noGrp="1"/>
          </p:cNvSpPr>
          <p:nvPr>
            <p:ph idx="1"/>
          </p:nvPr>
        </p:nvSpPr>
        <p:spPr>
          <a:xfrm>
            <a:off x="1371599" y="1965772"/>
            <a:ext cx="9724031" cy="3683358"/>
          </a:xfrm>
        </p:spPr>
        <p:txBody>
          <a:bodyPr anchor="ctr">
            <a:noAutofit/>
          </a:bodyPr>
          <a:lstStyle/>
          <a:p>
            <a:r>
              <a:rPr lang="en-US" sz="2400" dirty="0"/>
              <a:t>Suppose you have some uncommented/undocumented code you have to review. If you could add one piece of documentation to each function/method, what would you add?</a:t>
            </a:r>
          </a:p>
          <a:p>
            <a:pPr lvl="1"/>
            <a:r>
              <a:rPr lang="en-US" dirty="0"/>
              <a:t>This could be one comment to a specific line, a partial docstring for one variable, etc.</a:t>
            </a:r>
          </a:p>
          <a:p>
            <a:r>
              <a:rPr lang="en-US" sz="2400" dirty="0"/>
              <a:t>Imagine another scenario, you have to work quickly with a new codebase you aren’t familiar with. What would be the quickest way to understand each function/method without reading it?</a:t>
            </a:r>
          </a:p>
          <a:p>
            <a:r>
              <a:rPr lang="en-US" sz="2400" dirty="0"/>
              <a:t>Conversely, what if you have written code and commented it, but are unsure if your comments are correct?</a:t>
            </a:r>
          </a:p>
        </p:txBody>
      </p:sp>
    </p:spTree>
    <p:extLst>
      <p:ext uri="{BB962C8B-B14F-4D97-AF65-F5344CB8AC3E}">
        <p14:creationId xmlns:p14="http://schemas.microsoft.com/office/powerpoint/2010/main" val="143519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FA00B8-FF25-6FCB-C375-2064644E57E6}"/>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Problem</a:t>
            </a:r>
          </a:p>
        </p:txBody>
      </p:sp>
      <p:sp>
        <p:nvSpPr>
          <p:cNvPr id="3" name="Content Placeholder 2">
            <a:extLst>
              <a:ext uri="{FF2B5EF4-FFF2-40B4-BE49-F238E27FC236}">
                <a16:creationId xmlns:a16="http://schemas.microsoft.com/office/drawing/2014/main" id="{9C59D4C5-438A-12E3-CE51-C1894A9D7637}"/>
              </a:ext>
            </a:extLst>
          </p:cNvPr>
          <p:cNvSpPr>
            <a:spLocks noGrp="1"/>
          </p:cNvSpPr>
          <p:nvPr>
            <p:ph idx="1"/>
          </p:nvPr>
        </p:nvSpPr>
        <p:spPr>
          <a:xfrm>
            <a:off x="1371599" y="1965772"/>
            <a:ext cx="9724031" cy="3683358"/>
          </a:xfrm>
        </p:spPr>
        <p:txBody>
          <a:bodyPr anchor="ctr">
            <a:normAutofit/>
          </a:bodyPr>
          <a:lstStyle/>
          <a:p>
            <a:r>
              <a:rPr lang="en-US" sz="2400" dirty="0"/>
              <a:t>Let's focus on one type of code comprehension we worked on this semester, pre- and post-conditions. </a:t>
            </a:r>
          </a:p>
          <a:p>
            <a:r>
              <a:rPr lang="en-US" sz="2400" dirty="0"/>
              <a:t>Specifically, how well can LLMs find and document these conditions?</a:t>
            </a:r>
          </a:p>
          <a:p>
            <a:pPr lvl="1"/>
            <a:r>
              <a:rPr lang="en-US" dirty="0"/>
              <a:t>Models/LLMs used: ChatGPT 4.0 and Copilot</a:t>
            </a:r>
          </a:p>
          <a:p>
            <a:pPr lvl="1"/>
            <a:r>
              <a:rPr lang="en-US" dirty="0"/>
              <a:t>Further analyzed how well the models convert the post-conditions to executable format.</a:t>
            </a:r>
          </a:p>
          <a:p>
            <a:r>
              <a:rPr lang="en-US" sz="2400" dirty="0"/>
              <a:t>Additionally, how well can they assess correctness of already written pre- and post-conditions?</a:t>
            </a:r>
          </a:p>
        </p:txBody>
      </p:sp>
    </p:spTree>
    <p:extLst>
      <p:ext uri="{BB962C8B-B14F-4D97-AF65-F5344CB8AC3E}">
        <p14:creationId xmlns:p14="http://schemas.microsoft.com/office/powerpoint/2010/main" val="3758736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616A56-6DE6-C9D5-271E-CA03A5CBD6F6}"/>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Methodology – Prompt 1</a:t>
            </a:r>
          </a:p>
        </p:txBody>
      </p:sp>
      <p:sp>
        <p:nvSpPr>
          <p:cNvPr id="3" name="Content Placeholder 2">
            <a:extLst>
              <a:ext uri="{FF2B5EF4-FFF2-40B4-BE49-F238E27FC236}">
                <a16:creationId xmlns:a16="http://schemas.microsoft.com/office/drawing/2014/main" id="{01743C9B-E757-715A-9698-718B33C2737E}"/>
              </a:ext>
            </a:extLst>
          </p:cNvPr>
          <p:cNvSpPr>
            <a:spLocks noGrp="1"/>
          </p:cNvSpPr>
          <p:nvPr>
            <p:ph idx="1"/>
          </p:nvPr>
        </p:nvSpPr>
        <p:spPr>
          <a:xfrm>
            <a:off x="1371599" y="1965772"/>
            <a:ext cx="9724031" cy="3683358"/>
          </a:xfrm>
        </p:spPr>
        <p:txBody>
          <a:bodyPr anchor="ctr">
            <a:noAutofit/>
          </a:bodyPr>
          <a:lstStyle/>
          <a:p>
            <a:r>
              <a:rPr lang="en-US" sz="2400" dirty="0"/>
              <a:t>According to the </a:t>
            </a:r>
            <a:r>
              <a:rPr lang="en-US" sz="2400" dirty="0" err="1"/>
              <a:t>Tiobe</a:t>
            </a:r>
            <a:r>
              <a:rPr lang="en-US" sz="2400" dirty="0"/>
              <a:t> Index, Python is still the most used programming language. </a:t>
            </a:r>
          </a:p>
          <a:p>
            <a:r>
              <a:rPr lang="en-US" sz="2400" dirty="0"/>
              <a:t>A rather basic data structure is a linked list and there are most likely plenty of examples for the LLMs to reference. </a:t>
            </a:r>
          </a:p>
          <a:p>
            <a:r>
              <a:rPr lang="en-US" sz="2400" dirty="0"/>
              <a:t>Asked both models to find the pre- and post-conditions for each method in the linked list.</a:t>
            </a:r>
          </a:p>
        </p:txBody>
      </p:sp>
    </p:spTree>
    <p:extLst>
      <p:ext uri="{BB962C8B-B14F-4D97-AF65-F5344CB8AC3E}">
        <p14:creationId xmlns:p14="http://schemas.microsoft.com/office/powerpoint/2010/main" val="297190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0717BA-2DF3-1CC0-E9EE-8259D967B3CE}"/>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Methodology – Prompt 2</a:t>
            </a:r>
          </a:p>
        </p:txBody>
      </p:sp>
      <p:sp>
        <p:nvSpPr>
          <p:cNvPr id="3" name="Content Placeholder 2">
            <a:extLst>
              <a:ext uri="{FF2B5EF4-FFF2-40B4-BE49-F238E27FC236}">
                <a16:creationId xmlns:a16="http://schemas.microsoft.com/office/drawing/2014/main" id="{9141B308-59B9-FE20-D10E-70FAAF2C91EC}"/>
              </a:ext>
            </a:extLst>
          </p:cNvPr>
          <p:cNvSpPr>
            <a:spLocks noGrp="1"/>
          </p:cNvSpPr>
          <p:nvPr>
            <p:ph idx="1"/>
          </p:nvPr>
        </p:nvSpPr>
        <p:spPr>
          <a:xfrm>
            <a:off x="1371599" y="1965772"/>
            <a:ext cx="9724031" cy="3683358"/>
          </a:xfrm>
        </p:spPr>
        <p:txBody>
          <a:bodyPr anchor="ctr">
            <a:normAutofit/>
          </a:bodyPr>
          <a:lstStyle/>
          <a:p>
            <a:r>
              <a:rPr lang="en-US" sz="2400" dirty="0"/>
              <a:t>Similar setup as prompt 1, except we use a more robust prompt.</a:t>
            </a:r>
          </a:p>
          <a:p>
            <a:pPr lvl="1"/>
            <a:r>
              <a:rPr lang="en-US" dirty="0"/>
              <a:t>Specifically, this prompt includes examples, definitions, exact details of what is wanted, very specific wording so the model can retrieve associated data, etc.</a:t>
            </a:r>
          </a:p>
          <a:p>
            <a:r>
              <a:rPr lang="en-US" sz="2400" dirty="0"/>
              <a:t>Additionally, the models were asked to breakdown the analysis by each method, as opposed to analyzing the entire codebase at once.</a:t>
            </a:r>
          </a:p>
        </p:txBody>
      </p:sp>
    </p:spTree>
    <p:extLst>
      <p:ext uri="{BB962C8B-B14F-4D97-AF65-F5344CB8AC3E}">
        <p14:creationId xmlns:p14="http://schemas.microsoft.com/office/powerpoint/2010/main" val="578685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F883D0-85BD-6860-0B0E-3B827549C3F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EE170C-659E-9579-4162-33D4F154A4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CE70A09-5528-BA98-BB4A-D2703F61D3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B6D07A6-72BD-2924-3297-39167F956B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55F36B7-3AC9-6659-6B92-5A038CEE6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B2E365A-263D-1B0D-C57F-0E60C7647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C64D82-8A2F-E8A1-3F25-7AEA2170DB54}"/>
              </a:ext>
            </a:extLst>
          </p:cNvPr>
          <p:cNvSpPr>
            <a:spLocks noGrp="1"/>
          </p:cNvSpPr>
          <p:nvPr>
            <p:ph type="title"/>
          </p:nvPr>
        </p:nvSpPr>
        <p:spPr>
          <a:xfrm>
            <a:off x="1371599" y="294538"/>
            <a:ext cx="9895951" cy="1033669"/>
          </a:xfrm>
        </p:spPr>
        <p:txBody>
          <a:bodyPr>
            <a:normAutofit/>
          </a:bodyPr>
          <a:lstStyle/>
          <a:p>
            <a:r>
              <a:rPr lang="en-US" sz="4000" dirty="0">
                <a:solidFill>
                  <a:schemeClr val="bg1"/>
                </a:solidFill>
              </a:rPr>
              <a:t>Methodology – Review Each Other</a:t>
            </a:r>
          </a:p>
        </p:txBody>
      </p:sp>
      <p:sp>
        <p:nvSpPr>
          <p:cNvPr id="3" name="Content Placeholder 2">
            <a:extLst>
              <a:ext uri="{FF2B5EF4-FFF2-40B4-BE49-F238E27FC236}">
                <a16:creationId xmlns:a16="http://schemas.microsoft.com/office/drawing/2014/main" id="{939C8929-5688-547A-FCAB-166CA0A916F0}"/>
              </a:ext>
            </a:extLst>
          </p:cNvPr>
          <p:cNvSpPr>
            <a:spLocks noGrp="1"/>
          </p:cNvSpPr>
          <p:nvPr>
            <p:ph idx="1"/>
          </p:nvPr>
        </p:nvSpPr>
        <p:spPr>
          <a:xfrm>
            <a:off x="1371599" y="1965772"/>
            <a:ext cx="9724031" cy="3683358"/>
          </a:xfrm>
        </p:spPr>
        <p:txBody>
          <a:bodyPr anchor="ctr">
            <a:normAutofit/>
          </a:bodyPr>
          <a:lstStyle/>
          <a:p>
            <a:r>
              <a:rPr lang="en-US" sz="2400" dirty="0"/>
              <a:t>After each prompt, the models swapped code and evaluated the correctness.</a:t>
            </a:r>
          </a:p>
          <a:p>
            <a:r>
              <a:rPr lang="en-US" sz="2400" dirty="0"/>
              <a:t>For example, ChatGPT is asked to add pre- and post-conditions to the linked list. After generating it, the response was fed to Copilot and asked to evaluate the correctness of the pre- and post-conditions in the docstring.</a:t>
            </a:r>
          </a:p>
          <a:p>
            <a:r>
              <a:rPr lang="en-US" sz="2400" dirty="0"/>
              <a:t>Unfortunately, the results were not interesting. Without fail the models were able to correctly identify a correct or incorrect pre- or post-condition.</a:t>
            </a:r>
          </a:p>
        </p:txBody>
      </p:sp>
    </p:spTree>
    <p:extLst>
      <p:ext uri="{BB962C8B-B14F-4D97-AF65-F5344CB8AC3E}">
        <p14:creationId xmlns:p14="http://schemas.microsoft.com/office/powerpoint/2010/main" val="2752112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FD3B8C-BC24-3271-AF71-D95B9BAD0AC4}"/>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Evaluation</a:t>
            </a:r>
          </a:p>
        </p:txBody>
      </p:sp>
      <p:sp>
        <p:nvSpPr>
          <p:cNvPr id="3" name="Content Placeholder 2">
            <a:extLst>
              <a:ext uri="{FF2B5EF4-FFF2-40B4-BE49-F238E27FC236}">
                <a16:creationId xmlns:a16="http://schemas.microsoft.com/office/drawing/2014/main" id="{E1E823A8-F6FE-23A2-80B2-EF6C535ABB80}"/>
              </a:ext>
            </a:extLst>
          </p:cNvPr>
          <p:cNvSpPr>
            <a:spLocks noGrp="1"/>
          </p:cNvSpPr>
          <p:nvPr>
            <p:ph idx="1"/>
          </p:nvPr>
        </p:nvSpPr>
        <p:spPr>
          <a:xfrm>
            <a:off x="1371599" y="1965772"/>
            <a:ext cx="9724031" cy="3683358"/>
          </a:xfrm>
        </p:spPr>
        <p:txBody>
          <a:bodyPr anchor="ctr">
            <a:normAutofit/>
          </a:bodyPr>
          <a:lstStyle/>
          <a:p>
            <a:r>
              <a:rPr lang="en-US" sz="2400" dirty="0"/>
              <a:t>Manual answer evaluation, automated input.</a:t>
            </a:r>
          </a:p>
          <a:p>
            <a:r>
              <a:rPr lang="en-US" sz="2400" dirty="0"/>
              <a:t>Models did really well with one notable exception.</a:t>
            </a:r>
          </a:p>
          <a:p>
            <a:r>
              <a:rPr lang="en-US" sz="2400" dirty="0"/>
              <a:t>Future work: Developing a specialized tool for finding pre- and post-conditions.</a:t>
            </a:r>
          </a:p>
        </p:txBody>
      </p:sp>
    </p:spTree>
    <p:extLst>
      <p:ext uri="{BB962C8B-B14F-4D97-AF65-F5344CB8AC3E}">
        <p14:creationId xmlns:p14="http://schemas.microsoft.com/office/powerpoint/2010/main" val="3100108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6C1C0F9-B0BF-8D26-FF63-3629E1E284B1}"/>
              </a:ext>
            </a:extLst>
          </p:cNvPr>
          <p:cNvSpPr>
            <a:spLocks noGrp="1"/>
          </p:cNvSpPr>
          <p:nvPr>
            <p:ph type="title"/>
          </p:nvPr>
        </p:nvSpPr>
        <p:spPr>
          <a:xfrm>
            <a:off x="826396" y="586855"/>
            <a:ext cx="4230100" cy="3387497"/>
          </a:xfrm>
        </p:spPr>
        <p:txBody>
          <a:bodyPr anchor="b">
            <a:normAutofit/>
          </a:bodyPr>
          <a:lstStyle/>
          <a:p>
            <a:pPr algn="r"/>
            <a:r>
              <a:rPr lang="en-US" sz="4000" dirty="0">
                <a:solidFill>
                  <a:srgbClr val="FFFFFF"/>
                </a:solidFill>
              </a:rPr>
              <a:t>Results</a:t>
            </a:r>
          </a:p>
        </p:txBody>
      </p:sp>
      <p:pic>
        <p:nvPicPr>
          <p:cNvPr id="5" name="Picture 4" descr="A graph of a number of correct conditions&#10;&#10;AI-generated content may be incorrect.">
            <a:extLst>
              <a:ext uri="{FF2B5EF4-FFF2-40B4-BE49-F238E27FC236}">
                <a16:creationId xmlns:a16="http://schemas.microsoft.com/office/drawing/2014/main" id="{36896695-6A9D-A4DC-AF4E-9A6DB9F004C4}"/>
              </a:ext>
            </a:extLst>
          </p:cNvPr>
          <p:cNvPicPr>
            <a:picLocks noChangeAspect="1"/>
          </p:cNvPicPr>
          <p:nvPr/>
        </p:nvPicPr>
        <p:blipFill>
          <a:blip r:embed="rId3"/>
          <a:srcRect l="11561" r="13566" b="5487"/>
          <a:stretch>
            <a:fillRect/>
          </a:stretch>
        </p:blipFill>
        <p:spPr>
          <a:xfrm>
            <a:off x="7173150" y="68022"/>
            <a:ext cx="3522461" cy="3286459"/>
          </a:xfrm>
          <a:prstGeom prst="rect">
            <a:avLst/>
          </a:prstGeom>
        </p:spPr>
      </p:pic>
      <p:pic>
        <p:nvPicPr>
          <p:cNvPr id="7" name="Picture 6" descr="A graph of numbers and a number of correct conditions&#10;&#10;AI-generated content may be incorrect.">
            <a:extLst>
              <a:ext uri="{FF2B5EF4-FFF2-40B4-BE49-F238E27FC236}">
                <a16:creationId xmlns:a16="http://schemas.microsoft.com/office/drawing/2014/main" id="{2E379FBD-99EB-08C1-8E77-484C90DC86EA}"/>
              </a:ext>
            </a:extLst>
          </p:cNvPr>
          <p:cNvPicPr>
            <a:picLocks noChangeAspect="1"/>
          </p:cNvPicPr>
          <p:nvPr/>
        </p:nvPicPr>
        <p:blipFill>
          <a:blip r:embed="rId4">
            <a:alphaModFix/>
          </a:blip>
          <a:srcRect l="14304" t="791" r="8353" b="7347"/>
          <a:stretch>
            <a:fillRect/>
          </a:stretch>
        </p:blipFill>
        <p:spPr>
          <a:xfrm>
            <a:off x="7137232" y="3422503"/>
            <a:ext cx="3594296" cy="3282560"/>
          </a:xfrm>
          <a:prstGeom prst="rect">
            <a:avLst/>
          </a:prstGeom>
        </p:spPr>
      </p:pic>
    </p:spTree>
    <p:extLst>
      <p:ext uri="{BB962C8B-B14F-4D97-AF65-F5344CB8AC3E}">
        <p14:creationId xmlns:p14="http://schemas.microsoft.com/office/powerpoint/2010/main" val="24245888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TotalTime>
  <Words>995</Words>
  <Application>Microsoft Macintosh PowerPoint</Application>
  <PresentationFormat>Widescreen</PresentationFormat>
  <Paragraphs>63</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Leveraging LLMs to Handle Code Comprehension Tasks</vt:lpstr>
      <vt:lpstr>Motivation</vt:lpstr>
      <vt:lpstr>Problem</vt:lpstr>
      <vt:lpstr>Methodology – Prompt 1</vt:lpstr>
      <vt:lpstr>Methodology – Prompt 2</vt:lpstr>
      <vt:lpstr>Methodology – Review Each Other</vt:lpstr>
      <vt:lpstr>Evaluation</vt:lpstr>
      <vt:lpstr>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Herdman, Ben</dc:creator>
  <cp:lastModifiedBy>Herdman, Ben</cp:lastModifiedBy>
  <cp:revision>68</cp:revision>
  <dcterms:created xsi:type="dcterms:W3CDTF">2025-12-08T15:08:16Z</dcterms:created>
  <dcterms:modified xsi:type="dcterms:W3CDTF">2025-12-09T01:45:19Z</dcterms:modified>
</cp:coreProperties>
</file>